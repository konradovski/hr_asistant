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</p:sldIdLst>
  <p:sldSz cy="6858000" cx="9144000"/>
  <p:notesSz cx="6858000" cy="9144000"/>
  <p:embeddedFontLst>
    <p:embeddedFont>
      <p:font typeface="Amatic SC"/>
      <p:regular r:id="rId9"/>
      <p:bold r:id="rId10"/>
    </p:embeddedFont>
    <p:embeddedFont>
      <p:font typeface="Source Code Pr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5" roundtripDataSignature="AMtx7miJGe2vTAeHdXOJqqh0iPgXe/oN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SourceCodePro-regular.fntdata"/><Relationship Id="rId10" Type="http://schemas.openxmlformats.org/officeDocument/2006/relationships/font" Target="fonts/AmaticSC-bold.fntdata"/><Relationship Id="rId13" Type="http://schemas.openxmlformats.org/officeDocument/2006/relationships/font" Target="fonts/SourceCodePro-italic.fntdata"/><Relationship Id="rId12" Type="http://schemas.openxmlformats.org/officeDocument/2006/relationships/font" Target="fonts/SourceCodePr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AmaticSC-regular.fntdata"/><Relationship Id="rId15" Type="http://customschemas.google.com/relationships/presentationmetadata" Target="metadata"/><Relationship Id="rId14" Type="http://schemas.openxmlformats.org/officeDocument/2006/relationships/font" Target="fonts/SourceCodePr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92b8bff00f_0_111"/>
          <p:cNvSpPr/>
          <p:nvPr/>
        </p:nvSpPr>
        <p:spPr>
          <a:xfrm>
            <a:off x="0" y="0"/>
            <a:ext cx="9144000" cy="45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g392b8bff00f_0_111"/>
          <p:cNvSpPr txBox="1"/>
          <p:nvPr>
            <p:ph type="ctrTitle"/>
          </p:nvPr>
        </p:nvSpPr>
        <p:spPr>
          <a:xfrm>
            <a:off x="311700" y="522867"/>
            <a:ext cx="8520600" cy="358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g392b8bff00f_0_111"/>
          <p:cNvSpPr txBox="1"/>
          <p:nvPr>
            <p:ph idx="1" type="subTitle"/>
          </p:nvPr>
        </p:nvSpPr>
        <p:spPr>
          <a:xfrm>
            <a:off x="311700" y="5187200"/>
            <a:ext cx="8520600" cy="94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g392b8bff00f_0_1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392b8bff00f_0_116"/>
          <p:cNvSpPr txBox="1"/>
          <p:nvPr>
            <p:ph type="title"/>
          </p:nvPr>
        </p:nvSpPr>
        <p:spPr>
          <a:xfrm>
            <a:off x="2802750" y="1070000"/>
            <a:ext cx="3538500" cy="47181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g392b8bff00f_0_11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92b8bff00f_0_119"/>
          <p:cNvSpPr txBox="1"/>
          <p:nvPr>
            <p:ph type="title"/>
          </p:nvPr>
        </p:nvSpPr>
        <p:spPr>
          <a:xfrm>
            <a:off x="311700" y="390467"/>
            <a:ext cx="8520600" cy="10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g392b8bff00f_0_119"/>
          <p:cNvSpPr txBox="1"/>
          <p:nvPr>
            <p:ph idx="1" type="body"/>
          </p:nvPr>
        </p:nvSpPr>
        <p:spPr>
          <a:xfrm>
            <a:off x="311700" y="1638233"/>
            <a:ext cx="8520600" cy="44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g392b8bff00f_0_11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92b8bff00f_0_123"/>
          <p:cNvSpPr txBox="1"/>
          <p:nvPr>
            <p:ph type="title"/>
          </p:nvPr>
        </p:nvSpPr>
        <p:spPr>
          <a:xfrm>
            <a:off x="311700" y="390467"/>
            <a:ext cx="8520600" cy="10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g392b8bff00f_0_123"/>
          <p:cNvSpPr txBox="1"/>
          <p:nvPr>
            <p:ph idx="1" type="body"/>
          </p:nvPr>
        </p:nvSpPr>
        <p:spPr>
          <a:xfrm>
            <a:off x="311700" y="1638233"/>
            <a:ext cx="3999900" cy="44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g392b8bff00f_0_123"/>
          <p:cNvSpPr txBox="1"/>
          <p:nvPr>
            <p:ph idx="2" type="body"/>
          </p:nvPr>
        </p:nvSpPr>
        <p:spPr>
          <a:xfrm>
            <a:off x="4832400" y="1638233"/>
            <a:ext cx="3999900" cy="44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g392b8bff00f_0_1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92b8bff00f_0_128"/>
          <p:cNvSpPr txBox="1"/>
          <p:nvPr>
            <p:ph type="title"/>
          </p:nvPr>
        </p:nvSpPr>
        <p:spPr>
          <a:xfrm>
            <a:off x="304800" y="412467"/>
            <a:ext cx="85377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g392b8bff00f_0_12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92b8bff00f_0_131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g392b8bff00f_0_131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g392b8bff00f_0_13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92b8bff00f_0_135"/>
          <p:cNvSpPr txBox="1"/>
          <p:nvPr>
            <p:ph type="title"/>
          </p:nvPr>
        </p:nvSpPr>
        <p:spPr>
          <a:xfrm>
            <a:off x="490250" y="701800"/>
            <a:ext cx="56187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g392b8bff00f_0_13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92b8bff00f_0_138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g392b8bff00f_0_138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g392b8bff00f_0_138"/>
          <p:cNvSpPr txBox="1"/>
          <p:nvPr>
            <p:ph type="title"/>
          </p:nvPr>
        </p:nvSpPr>
        <p:spPr>
          <a:xfrm>
            <a:off x="265500" y="1441867"/>
            <a:ext cx="4045200" cy="228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g392b8bff00f_0_138"/>
          <p:cNvSpPr txBox="1"/>
          <p:nvPr>
            <p:ph idx="1" type="subTitle"/>
          </p:nvPr>
        </p:nvSpPr>
        <p:spPr>
          <a:xfrm>
            <a:off x="265500" y="3793630"/>
            <a:ext cx="4045200" cy="17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g392b8bff00f_0_138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g392b8bff00f_0_13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92b8bff00f_0_145"/>
          <p:cNvSpPr txBox="1"/>
          <p:nvPr>
            <p:ph idx="1" type="body"/>
          </p:nvPr>
        </p:nvSpPr>
        <p:spPr>
          <a:xfrm>
            <a:off x="319500" y="5640767"/>
            <a:ext cx="5998800" cy="79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g392b8bff00f_0_14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92b8bff00f_0_148"/>
          <p:cNvSpPr txBox="1"/>
          <p:nvPr>
            <p:ph hasCustomPrompt="1" type="title"/>
          </p:nvPr>
        </p:nvSpPr>
        <p:spPr>
          <a:xfrm>
            <a:off x="311700" y="1653700"/>
            <a:ext cx="8520600" cy="264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g392b8bff00f_0_148"/>
          <p:cNvSpPr txBox="1"/>
          <p:nvPr>
            <p:ph idx="1" type="body"/>
          </p:nvPr>
        </p:nvSpPr>
        <p:spPr>
          <a:xfrm>
            <a:off x="311700" y="44061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g392b8bff00f_0_14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2b8bff00f_0_15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92b8bff00f_0_15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4" name="Google Shape;54;g392b8bff00f_0_15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5" name="Google Shape;55;g392b8bff00f_0_15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92b8bff00f_0_15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g392b8bff00f_0_15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2b8bff00f_0_107"/>
          <p:cNvSpPr txBox="1"/>
          <p:nvPr>
            <p:ph type="title"/>
          </p:nvPr>
        </p:nvSpPr>
        <p:spPr>
          <a:xfrm>
            <a:off x="311700" y="390467"/>
            <a:ext cx="8520600" cy="10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g392b8bff00f_0_107"/>
          <p:cNvSpPr txBox="1"/>
          <p:nvPr>
            <p:ph idx="1" type="body"/>
          </p:nvPr>
        </p:nvSpPr>
        <p:spPr>
          <a:xfrm>
            <a:off x="311700" y="1638233"/>
            <a:ext cx="8520600" cy="44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g392b8bff00f_0_10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"/>
          <p:cNvSpPr txBox="1"/>
          <p:nvPr>
            <p:ph type="ctrTitle"/>
          </p:nvPr>
        </p:nvSpPr>
        <p:spPr>
          <a:xfrm>
            <a:off x="683425" y="1912575"/>
            <a:ext cx="8118600" cy="20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HR AI Recruiter Assistant</a:t>
            </a:r>
            <a:endParaRPr/>
          </a:p>
        </p:txBody>
      </p:sp>
      <p:sp>
        <p:nvSpPr>
          <p:cNvPr id="63" name="Google Shape;63;p1"/>
          <p:cNvSpPr txBox="1"/>
          <p:nvPr>
            <p:ph idx="1" type="subTitle"/>
          </p:nvPr>
        </p:nvSpPr>
        <p:spPr>
          <a:xfrm>
            <a:off x="683425" y="4978577"/>
            <a:ext cx="81186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 sz="2300">
                <a:solidFill>
                  <a:srgbClr val="000000"/>
                </a:solidFill>
              </a:rPr>
              <a:t>Inteligentn</a:t>
            </a:r>
            <a:r>
              <a:rPr lang="en-US" sz="2300">
                <a:solidFill>
                  <a:srgbClr val="000000"/>
                </a:solidFill>
              </a:rPr>
              <a:t>e sprawdzenie </a:t>
            </a:r>
            <a:r>
              <a:rPr lang="en-US" sz="2300">
                <a:solidFill>
                  <a:srgbClr val="000000"/>
                </a:solidFill>
              </a:rPr>
              <a:t>kandydatów na dane stanowisko</a:t>
            </a:r>
            <a:endParaRPr sz="2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Jakie problemy biznesowe rozwiązujemy?</a:t>
            </a:r>
            <a:endParaRPr/>
          </a:p>
        </p:txBody>
      </p:sp>
      <p:sp>
        <p:nvSpPr>
          <p:cNvPr id="69" name="Google Shape;69;p2"/>
          <p:cNvSpPr txBox="1"/>
          <p:nvPr>
            <p:ph idx="1" type="body"/>
          </p:nvPr>
        </p:nvSpPr>
        <p:spPr>
          <a:xfrm>
            <a:off x="457200" y="1493975"/>
            <a:ext cx="8535000" cy="51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Wyzwania w rekrutacji:</a:t>
            </a:r>
            <a:endParaRPr b="1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4295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• Przeciążenie danymi: Ręczna analiza setek CV zajmuje dziesiątki godzin.</a:t>
            </a:r>
            <a:endParaRPr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4295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• Ryzyko błędu i stronniczość: Zmęczenie powoduje przeoczenie talentów lub subiektywne oceny.</a:t>
            </a:r>
            <a:endParaRPr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4295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• Brak standaryzacji: Trudność w porównywaniu CV o różnych formatach, pomijamy aspekty wizualne CV przez co nasz wybór kandydata nie będzie opierał się na wyglądzie a na treści.</a:t>
            </a:r>
            <a:endParaRPr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Rozwiązanie aplikacji:</a:t>
            </a:r>
            <a:endParaRPr b="1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4295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• Automatyzacja: Analiza dokumentów w kilka sekund zamiast godzin.</a:t>
            </a:r>
            <a:endParaRPr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42950" rtl="0" algn="l">
              <a:spcBef>
                <a:spcPts val="560"/>
              </a:spcBef>
              <a:spcAft>
                <a:spcPts val="120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• Obiektywny Ranking: Każdy kandydat oceniany wg tych samych kryteriów (0-100%).</a:t>
            </a:r>
            <a:endParaRPr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Jak to działa? (Architektura)</a:t>
            </a:r>
            <a:endParaRPr/>
          </a:p>
        </p:txBody>
      </p:sp>
      <p:sp>
        <p:nvSpPr>
          <p:cNvPr id="75" name="Google Shape;75;p3"/>
          <p:cNvSpPr txBox="1"/>
          <p:nvPr>
            <p:ph idx="1" type="body"/>
          </p:nvPr>
        </p:nvSpPr>
        <p:spPr>
          <a:xfrm>
            <a:off x="241875" y="1417650"/>
            <a:ext cx="8608200" cy="51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sz="5882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Konfiguracja (Input):</a:t>
            </a:r>
            <a:endParaRPr sz="5882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5882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Rekruter wybiera szablon stanowiska (Must-have / Nice-to-have).</a:t>
            </a:r>
            <a:endParaRPr sz="5882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sz="5882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Przetwarzanie (Processing):</a:t>
            </a:r>
            <a:endParaRPr sz="5882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5882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Aplikacja pobiera pliki PDF/DOCX i ekstrahuje z nich czysty tekst.</a:t>
            </a:r>
            <a:endParaRPr sz="5882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sz="5882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Inteligencja (AI Analysis):</a:t>
            </a:r>
            <a:endParaRPr sz="5882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5882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Model GPT-4o analizuje dopasowanie kompetencji do opisu    stanowiska.</a:t>
            </a:r>
            <a:endParaRPr sz="5882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sz="5882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Wynik (Output):</a:t>
            </a:r>
            <a:endParaRPr sz="5882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spcBef>
                <a:spcPts val="640"/>
              </a:spcBef>
              <a:spcAft>
                <a:spcPts val="1200"/>
              </a:spcAft>
              <a:buNone/>
            </a:pPr>
            <a:r>
              <a:rPr lang="en-US" sz="5882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Generowanie rankingu kandydatów oraz raportu zalet i braków (JSON -&gt; Dashboard).</a:t>
            </a:r>
            <a:endParaRPr sz="5882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